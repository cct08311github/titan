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銀行 IT 團隊現代化轉型提案書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ADCFC"/>
                </a:solidFill>
                <a:latin typeface="Calibri"/>
              </a:defRPr>
            </a:pPr>
            <a:r>
              <a:t>開源核心 + 自製膠合層｜Docker 容器化部署｜封閉內網運行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資訊工程團隊  |  2026 年 3 月  |  v1.0  |  內部機密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提案大綱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3E50"/>
                </a:solidFill>
                <a:latin typeface="Calibri"/>
              </a:defRPr>
            </a:pPr>
            <a:r>
              <a:t>01  管理摘要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F8C8D"/>
                </a:solidFill>
                <a:latin typeface="Calibri"/>
              </a:defRPr>
            </a:pPr>
            <a:r>
              <a:t>02  現狀分析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37743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3E50"/>
                </a:solidFill>
                <a:latin typeface="Calibri"/>
              </a:defRPr>
            </a:pPr>
            <a:r>
              <a:t>03  系統架構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017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F8C8D"/>
                </a:solidFill>
                <a:latin typeface="Calibri"/>
              </a:defRPr>
            </a:pPr>
            <a:r>
              <a:t>04  實施計畫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657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3E50"/>
                </a:solidFill>
                <a:latin typeface="Calibri"/>
              </a:defRPr>
            </a:pPr>
            <a:r>
              <a:t>05  效益對比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297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F8C8D"/>
                </a:solidFill>
                <a:latin typeface="Calibri"/>
              </a:defRPr>
            </a:pPr>
            <a:r>
              <a:t>06  資安合規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93775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3E50"/>
                </a:solidFill>
                <a:latin typeface="Calibri"/>
              </a:defRPr>
            </a:pPr>
            <a:r>
              <a:t>07  成本分析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5577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F8C8D"/>
                </a:solidFill>
                <a:latin typeface="Calibri"/>
              </a:defRPr>
            </a:pPr>
            <a:r>
              <a:t>08  風險評估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管理摘要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資訊散落 Email / Excel / 紙本 / 各自系統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每年浪費 2,160 小時（≈ 1 個全職人力）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無稽核軌跡，關鍵資訊隨人異動流失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變更管理靠紙本，合規風險高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2286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解決方案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7 套開源工具覆蓋全生命週期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n8n 自動化串接所有工具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Docker 容器化，外網開發內網部署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統一入口 Homepage，一頁進所有系統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89120"/>
            <a:ext cx="2560320" cy="2011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A896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ADCFC"/>
                </a:solidFill>
                <a:latin typeface="Calibri"/>
              </a:defRPr>
            </a:pPr>
            <a:r>
              <a:t>軟體授權費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4389120"/>
            <a:ext cx="2560320" cy="2011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4572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A896"/>
                </a:solidFill>
                <a:latin typeface="Calibri"/>
              </a:defRPr>
            </a:pPr>
            <a:r>
              <a:t>3 個月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5394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ADCFC"/>
                </a:solidFill>
                <a:latin typeface="Calibri"/>
              </a:defRPr>
            </a:pPr>
            <a:r>
              <a:t>建置時程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389120"/>
            <a:ext cx="2560320" cy="2011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A896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394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ADCFC"/>
                </a:solidFill>
                <a:latin typeface="Calibri"/>
              </a:defRPr>
            </a:pPr>
            <a:r>
              <a:t>資訊查找</a:t>
            </a:r>
            <a:br/>
            <a:r>
              <a:t>時間減少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4389120"/>
            <a:ext cx="2560320" cy="2011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4572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A89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5394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ADCFC"/>
                </a:solidFill>
                <a:latin typeface="Calibri"/>
              </a:defRPr>
            </a:pPr>
            <a:r>
              <a:t>變更可追溯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現狀分析：四大痛點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2651760" cy="41148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5176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Email 溝通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7F8C8D"/>
                </a:solidFill>
                <a:latin typeface="Calibri"/>
              </a:defRPr>
            </a:pPr>
            <a:r>
              <a:t>信件淹沒、版本分歧</a:t>
            </a:r>
          </a:p>
          <a:p>
            <a:pPr>
              <a:spcAft>
                <a:spcPts val="800"/>
              </a:spcAft>
              <a:defRPr sz="1400">
                <a:solidFill>
                  <a:srgbClr val="7F8C8D"/>
                </a:solidFill>
                <a:latin typeface="Calibri"/>
              </a:defRPr>
            </a:pPr>
            <a:r>
              <a:t>離職時脈絡流失</a:t>
            </a:r>
          </a:p>
          <a:p>
            <a:pPr>
              <a:spcAft>
                <a:spcPts val="800"/>
              </a:spcAft>
              <a:defRPr sz="1400">
                <a:solidFill>
                  <a:srgbClr val="7F8C8D"/>
                </a:solidFill>
                <a:latin typeface="Calibri"/>
              </a:defRPr>
            </a:pPr>
            <a:r>
              <a:t>無法統計工作負載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645920"/>
            <a:ext cx="2651760" cy="41148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645920"/>
            <a:ext cx="26517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Excel 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5603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7F8C8D"/>
                </a:solidFill>
                <a:latin typeface="Calibri"/>
              </a:defRPr>
            </a:pPr>
            <a:r>
              <a:t>檔案鎖定衝突</a:t>
            </a:r>
          </a:p>
          <a:p>
            <a:pPr>
              <a:spcAft>
                <a:spcPts val="800"/>
              </a:spcAft>
              <a:defRPr sz="1400">
                <a:solidFill>
                  <a:srgbClr val="7F8C8D"/>
                </a:solidFill>
                <a:latin typeface="Calibri"/>
              </a:defRPr>
            </a:pPr>
            <a:r>
              <a:t>版本混亂 (final_final)</a:t>
            </a:r>
          </a:p>
          <a:p>
            <a:pPr>
              <a:spcAft>
                <a:spcPts val="800"/>
              </a:spcAft>
              <a:defRPr sz="1400">
                <a:solidFill>
                  <a:srgbClr val="7F8C8D"/>
                </a:solidFill>
                <a:latin typeface="Calibri"/>
              </a:defRPr>
            </a:pPr>
            <a:r>
              <a:t>無自動提醒機制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645920"/>
            <a:ext cx="2651760" cy="41148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645920"/>
            <a:ext cx="265176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紙本簽核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7F8C8D"/>
                </a:solidFill>
                <a:latin typeface="Calibri"/>
              </a:defRPr>
            </a:pPr>
            <a:r>
              <a:t>CR 簽核需 3-5 天</a:t>
            </a:r>
          </a:p>
          <a:p>
            <a:pPr>
              <a:spcAft>
                <a:spcPts val="800"/>
              </a:spcAft>
              <a:defRPr sz="1400">
                <a:solidFill>
                  <a:srgbClr val="7F8C8D"/>
                </a:solidFill>
                <a:latin typeface="Calibri"/>
              </a:defRPr>
            </a:pPr>
            <a:r>
              <a:t>無法全文搜尋</a:t>
            </a:r>
          </a:p>
          <a:p>
            <a:pPr>
              <a:spcAft>
                <a:spcPts val="800"/>
              </a:spcAft>
              <a:defRPr sz="1400">
                <a:solidFill>
                  <a:srgbClr val="7F8C8D"/>
                </a:solidFill>
                <a:latin typeface="Calibri"/>
              </a:defRPr>
            </a:pPr>
            <a:r>
              <a:t>實體保管風險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19" y="1645920"/>
            <a:ext cx="2651760" cy="41148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89719" y="1645920"/>
            <a:ext cx="26517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程式碼管理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5603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7F8C8D"/>
                </a:solidFill>
                <a:latin typeface="Calibri"/>
              </a:defRPr>
            </a:pPr>
            <a:r>
              <a:t>無版本控制系統</a:t>
            </a:r>
          </a:p>
          <a:p>
            <a:pPr>
              <a:spcAft>
                <a:spcPts val="800"/>
              </a:spcAft>
              <a:defRPr sz="1400">
                <a:solidFill>
                  <a:srgbClr val="7F8C8D"/>
                </a:solidFill>
                <a:latin typeface="Calibri"/>
              </a:defRPr>
            </a:pPr>
            <a:r>
              <a:t>缺乏 Code Review</a:t>
            </a:r>
          </a:p>
          <a:p>
            <a:pPr>
              <a:spcAft>
                <a:spcPts val="800"/>
              </a:spcAft>
              <a:defRPr sz="1400">
                <a:solidFill>
                  <a:srgbClr val="7F8C8D"/>
                </a:solidFill>
                <a:latin typeface="Calibri"/>
              </a:defRPr>
            </a:pPr>
            <a:r>
              <a:t>部署靠手動冒險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5943600"/>
            <a:ext cx="5790895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5989320"/>
            <a:ext cx="5790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每年浪費 2,160 小時 ≈ 1 個全職人力 ≈ 超過 100 萬元隱性損失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系統架構：7 大工具 + 自動化膠合層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463040" cy="16459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任務管理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645920"/>
            <a:ext cx="146304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8288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468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知識庫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645920"/>
            <a:ext cx="1463040" cy="1645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8288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Gitea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468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程式碼/CR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645920"/>
            <a:ext cx="1463040" cy="1645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8288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Uptime Kuma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468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監控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1645920"/>
            <a:ext cx="1463040" cy="1645920"/>
          </a:xfrm>
          <a:prstGeom prst="rect">
            <a:avLst/>
          </a:prstGeom>
          <a:solidFill>
            <a:srgbClr val="F4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18288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Grafana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468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儀表板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645920"/>
            <a:ext cx="1463040" cy="1645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8288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n8n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468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自動化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20" y="1645920"/>
            <a:ext cx="1463040" cy="1645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18288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Homepage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468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統一入口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57600"/>
            <a:ext cx="11277295" cy="54864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7033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A896"/>
                </a:solidFill>
                <a:latin typeface="Calibri"/>
              </a:defRPr>
            </a:pPr>
            <a:r>
              <a:t>n8n 自動化膠合層 — 串接所有工具，實現無縫工作流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80560"/>
            <a:ext cx="3474720" cy="1097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937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主資料庫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4480560"/>
            <a:ext cx="3474720" cy="1097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937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快取 / 佇列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4480560"/>
            <a:ext cx="3566160" cy="1097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4572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Calibri"/>
              </a:defRPr>
            </a:pPr>
            <a:r>
              <a:t>MinIO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9377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檔案儲存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852160"/>
            <a:ext cx="11277295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897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ADCFC"/>
                </a:solidFill>
                <a:latin typeface="Calibri"/>
              </a:defRPr>
            </a:pPr>
            <a:r>
              <a:t>Docker Engine  |  Nginx Reverse Proxy  |  LDAP/AD 整合  |  內部 DNS (*.bank.local)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開發與部署流程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4572000" cy="41148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896"/>
                </a:solidFill>
                <a:latin typeface="Calibri"/>
              </a:defRPr>
            </a:pPr>
            <a:r>
              <a:t>外部開發環境（有網際網路）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AI 輔助開發（Claude / Copilot）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GitHub 版本控制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Docker build &amp; 測試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docker save 匯出映像檔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完整 CI/CD 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200400"/>
            <a:ext cx="1218895" cy="7315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3246120"/>
            <a:ext cx="1218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USB</a:t>
            </a:r>
            <a:br/>
            <a:r>
              <a:t>傳輸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645920"/>
            <a:ext cx="4572000" cy="41148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銀行封閉內網（無網際網路）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7744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docker load 匯入映像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docker compose up 一鍵部署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完全離線運行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所有資料留在內網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符合銀行資安規範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實施計畫：4+1 階段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45920"/>
            <a:ext cx="2148840" cy="41148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ADCFC"/>
                </a:solidFill>
                <a:latin typeface="Calibri"/>
              </a:defRPr>
            </a:pPr>
            <a:r>
              <a:t>第 1-2 週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017520"/>
            <a:ext cx="187451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Plane + Outline</a:t>
            </a:r>
            <a:br/>
            <a:r>
              <a:t>Homepage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720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基礎協作平台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79" y="1645920"/>
            <a:ext cx="2148840" cy="4114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18288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2377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ADCFC"/>
                </a:solidFill>
                <a:latin typeface="Calibri"/>
              </a:defRPr>
            </a:pPr>
            <a:r>
              <a:t>第 3-4 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39" y="3017520"/>
            <a:ext cx="187451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3108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Gitea + CR 流程</a:t>
            </a:r>
            <a:br/>
            <a:r>
              <a:t>Git 訓練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45720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程式碼管理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645920"/>
            <a:ext cx="2148840" cy="4114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8288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377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ADCFC"/>
                </a:solidFill>
                <a:latin typeface="Calibri"/>
              </a:defRPr>
            </a:pPr>
            <a:r>
              <a:t>第 2 個月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59" y="3017520"/>
            <a:ext cx="187451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79" y="3108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Uptime Kuma</a:t>
            </a:r>
            <a:br/>
            <a:r>
              <a:t>Grafana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5720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監控與可視化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19" y="1645920"/>
            <a:ext cx="2148840" cy="4114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8288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2377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ADCFC"/>
                </a:solidFill>
                <a:latin typeface="Calibri"/>
              </a:defRPr>
            </a:pPr>
            <a:r>
              <a:t>第 3 個月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3017520"/>
            <a:ext cx="187451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3108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n8n 自動化</a:t>
            </a:r>
            <a:br/>
            <a:r>
              <a:t>膠合層整合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45720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全面串接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1645920"/>
            <a:ext cx="2148840" cy="4114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18288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377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ADCFC"/>
                </a:solidFill>
                <a:latin typeface="Calibri"/>
              </a:defRPr>
            </a:pPr>
            <a:r>
              <a:t>選配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800" y="3017520"/>
            <a:ext cx="187451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19" y="3108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Ollama</a:t>
            </a:r>
            <a:br/>
            <a:r>
              <a:t>本地 AI 助手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5720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賦能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效益對比：Before vs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BEFORE（現狀）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任務派發 → 寄 Email，容易遺漏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進度追蹤 → 開 Excel，版本混亂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找文件 → 翻信箱/硬碟，耗時數小時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CR 變更 → 紙本簽核，3-5 天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系統監控 → 手動巡檢，被動發現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知識傳承 → 靠口述，人走知識失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週報 → 手動彙整，耗時 2-3 小時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AFTER（新系統）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任務派發 → Plane 直接指派，即時通知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進度追蹤 → 看板一目了然，即時更新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找文件 → Outline 全文搜尋，秒級回應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CR 變更 → Gitea PR 流程，即時審核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系統監控 → Uptime Kuma 主動告警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知識傳承 → Outline 知識庫，永久留存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週報 → n8n 自動生成，省時 90%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5943600"/>
            <a:ext cx="5790895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5989320"/>
            <a:ext cx="5790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預估每週節省 37.5 小時 → 每年節省 1,800+ 小時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資安合規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651760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完全離線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ADCFC"/>
                </a:solidFill>
                <a:latin typeface="Calibri"/>
              </a:defRPr>
            </a:pPr>
            <a:r>
              <a:t>所有系統在封閉內網運行</a:t>
            </a:r>
            <a:br/>
            <a:r>
              <a:t>無任何對外連線需求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645920"/>
            <a:ext cx="2651760" cy="25603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資料主權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7432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ADCFC"/>
                </a:solidFill>
                <a:latin typeface="Calibri"/>
              </a:defRPr>
            </a:pPr>
            <a:r>
              <a:t>所有資料存在銀行伺服器</a:t>
            </a:r>
            <a:br/>
            <a:r>
              <a:t>不經過第三方雲端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2651760" cy="2560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稽核軌跡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7432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ADCFC"/>
                </a:solidFill>
                <a:latin typeface="Calibri"/>
              </a:defRPr>
            </a:pPr>
            <a:r>
              <a:t>所有操作自動記錄</a:t>
            </a:r>
            <a:br/>
            <a:r>
              <a:t>完整 audit 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645920"/>
            <a:ext cx="2651760" cy="2560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統一認證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7432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ADCFC"/>
                </a:solidFill>
                <a:latin typeface="Calibri"/>
              </a:defRPr>
            </a:pPr>
            <a:r>
              <a:t>LDAP/AD 整合</a:t>
            </a:r>
            <a:br/>
            <a:r>
              <a:t>一組帳號登入所有系統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Docker 容器隔離，服務間互不影響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Nginx Reverse Proxy 統一入口，SSL 加密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每日自動備份，支援災難復原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符合金管會資訊安全管理規範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成本分析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本方案（開源）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軟體授權：$0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硬體成本：$0（利用現有伺服器）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建置人力：240 人時（內部消化）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年度維護：內部團隊自行維護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總成本：$0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C3E50"/>
                </a:solidFill>
                <a:latin typeface="Calibri"/>
              </a:defRPr>
            </a:pPr>
            <a:r>
              <a:t>商業方案（對比）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68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Jira + Confluence：~US$35,000/年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Azure DevOps：~US$30,000/年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GitLab Ultimate：~US$60,000/年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加上硬體/顧問：另計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年度成本：US$30,000-60,000+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5943600"/>
            <a:ext cx="5790895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5989320"/>
            <a:ext cx="5790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A896"/>
                </a:solidFill>
                <a:latin typeface="Calibri"/>
              </a:defRPr>
            </a:pPr>
            <a:r>
              <a:t>約 2 個月回本  |  ROI 超過 20 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結論與建議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A896"/>
                </a:solidFill>
                <a:latin typeface="Calibri"/>
              </a:defRPr>
            </a:pPr>
            <a:r>
              <a:t>零成本、三個月、一次到位的現代化轉型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0"/>
            <a:ext cx="6705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全開源方案，軟體授權費 $0</a:t>
            </a:r>
          </a:p>
          <a:p>
            <a:pPr>
              <a:spcAft>
                <a:spcPts val="8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Docker 容器化，封閉內網安全部署</a:t>
            </a:r>
          </a:p>
          <a:p>
            <a:pPr>
              <a:spcAft>
                <a:spcPts val="8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分階段實施，第 2 週即可上線使用</a:t>
            </a:r>
          </a:p>
          <a:p>
            <a:pPr>
              <a:spcAft>
                <a:spcPts val="8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每年節省 2,160 小時 + 100 萬元隱性成本</a:t>
            </a:r>
          </a:p>
          <a:p>
            <a:pPr>
              <a:spcAft>
                <a:spcPts val="8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完整稽核軌跡，符合金管會規範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建議立即啟動 Phase 1，2 週內讓團隊體驗改變。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